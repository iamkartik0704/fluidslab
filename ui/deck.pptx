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1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v/√(gH)</c:v>
                </c:pt>
              </c:strCache>
            </c:strRef>
          </c:tx>
          <c:spPr>
            <a:solidFill>
              <a:srgbClr val="FF3366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00000"/>
                    </a:solidFill>
                    <a:latin typeface="Courier New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FF3366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2E4BF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2E4BFF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2E4BFF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2E4BFF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2E4BFF"/>
              </a:solidFill>
              <a:effectLst/>
            </c:spPr>
          </c:dPt>
          <c:dPt>
            <c:idx val="6"/>
            <c:invertIfNegative val="0"/>
            <c:bubble3D val="0"/>
            <c:spPr>
              <a:solidFill>
                <a:srgbClr val="2E4BFF"/>
              </a:solidFill>
              <a:effectLst/>
            </c:spPr>
          </c:dPt>
          <c:dPt>
            <c:idx val="7"/>
            <c:invertIfNegative val="0"/>
            <c:bubble3D val="0"/>
            <c:spPr>
              <a:solidFill>
                <a:srgbClr val="2E4BFF"/>
              </a:solidFill>
              <a:effectLst/>
            </c:spPr>
          </c:dPt>
          <c:cat>
            <c:multiLvlStrRef>
              <c:f>Sheet1!$A$2:$A$9</c:f>
              <c:multiLvlStrCache>
                <c:ptCount val="8"/>
                <c:lvl>
                  <c:pt idx="0">
                    <c:v>Ritter</c:v>
                  </c:pt>
                  <c:pt idx="1">
                    <c:v>Lobovský 300</c:v>
                  </c:pt>
                  <c:pt idx="2">
                    <c:v>Lobovský 600</c:v>
                  </c:pt>
                  <c:pt idx="3">
                    <c:v>M&amp;M 57</c:v>
                  </c:pt>
                  <c:pt idx="4">
                    <c:v>M&amp;M 114</c:v>
                  </c:pt>
                  <c:pt idx="5">
                    <c:v>Dressler 110</c:v>
                  </c:pt>
                  <c:pt idx="6">
                    <c:v>Hu</c:v>
                  </c:pt>
                  <c:pt idx="7">
                    <c:v>Koshizuka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2</c:v>
                </c:pt>
                <c:pt idx="1">
                  <c:v>1.56</c:v>
                </c:pt>
                <c:pt idx="2">
                  <c:v>1.34</c:v>
                </c:pt>
                <c:pt idx="3">
                  <c:v>1.48</c:v>
                </c:pt>
                <c:pt idx="4">
                  <c:v>1.69</c:v>
                </c:pt>
                <c:pt idx="5">
                  <c:v>1.7</c:v>
                </c:pt>
                <c:pt idx="6">
                  <c:v>1.21</c:v>
                </c:pt>
                <c:pt idx="7">
                  <c:v>1.3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000000"/>
                  </a:solidFill>
                  <a:latin typeface="Courier New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.4"/>
          <c:min val="0"/>
        </c:scaling>
        <c:delete val="0"/>
        <c:axPos val="l"/>
        <c:majorGridlines>
          <c:spPr>
            <a:ln w="635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Courier New"/>
              </a:defRPr>
            </a:pPr>
            <a:endParaRPr lang="en-US"/>
          </a:p>
        </c:txPr>
        <c:crossAx val="2094734554"/>
        <c:crosses val="autoZero"/>
        <c:crossBetween val="between"/>
        <c:majorUnit val="0.5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RUTAL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56616" y="310896"/>
            <a:ext cx="11430000" cy="62636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28600" y="182880"/>
            <a:ext cx="11430000" cy="6263640"/>
          </a:xfrm>
          <a:prstGeom prst="rect">
            <a:avLst/>
          </a:prstGeom>
          <a:solidFill>
            <a:srgbClr val="FFFFFF"/>
          </a:solidFill>
          <a:ln w="38100">
            <a:solidFill>
              <a:srgbClr val="00000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48640" y="502920"/>
            <a:ext cx="2743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DECK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7872984" y="694944"/>
            <a:ext cx="118872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818120" y="640080"/>
            <a:ext cx="1188720" cy="4572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818120" y="640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← PREV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9244584" y="694944"/>
            <a:ext cx="118872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189720" y="640080"/>
            <a:ext cx="1188720" cy="457200"/>
          </a:xfrm>
          <a:prstGeom prst="rect">
            <a:avLst/>
          </a:prstGeom>
          <a:solidFill>
            <a:srgbClr val="FFD600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189720" y="640080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NEXT →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10433304" y="146304"/>
            <a:ext cx="1097280" cy="457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0378440" y="91440"/>
            <a:ext cx="1097280" cy="45720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378440" y="91440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 CLOSE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1207008"/>
            <a:ext cx="10789920" cy="0"/>
          </a:xfrm>
          <a:prstGeom prst="line">
            <a:avLst/>
          </a:prstGeom>
          <a:noFill/>
          <a:ln w="508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48640" y="2011680"/>
            <a:ext cx="10789920" cy="0"/>
          </a:xfrm>
          <a:prstGeom prst="line">
            <a:avLst/>
          </a:prstGeom>
          <a:noFill/>
          <a:ln w="19050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/>
          <p:nvPr>
            <p:ph idx="114" type="title" hasCustomPrompt="1"/>
          </p:nvPr>
        </p:nvSpPr>
        <p:spPr>
          <a:xfrm>
            <a:off x="548640" y="1298448"/>
            <a:ext cx="10789920" cy="658368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defRPr>
            </a:lvl1pPr>
          </a:lstStyle>
          <a:p>
            <a:pPr indent="0" marL="0">
              <a:buNone/>
            </a:pPr>
            <a:endParaRPr lang="en-US" sz="28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/>
          <p:nvPr>
            <p:ph idx="114" type="title" hasCustomPrompt="1"/>
          </p:nvPr>
        </p:nvSpPr>
        <p:spPr>
          <a:xfrm>
            <a:off x="548640" y="129844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1. THEORETICAL FOUNDATION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858000" y="6400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 / 9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14884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Problem: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dam break is a two-phase (water + air) flow. A water column is released instantly and collapses under gravity, so the region occupied by water is unknown and changes every step.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21792" y="3044952"/>
            <a:ext cx="10698480" cy="10972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971800"/>
            <a:ext cx="10698480" cy="1097280"/>
          </a:xfrm>
          <a:prstGeom prst="rect">
            <a:avLst/>
          </a:prstGeom>
          <a:solidFill>
            <a:srgbClr val="2E4B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48640" y="2971800"/>
            <a:ext cx="10698480" cy="1097280"/>
          </a:xfrm>
          <a:prstGeom prst="rect">
            <a:avLst/>
          </a:prstGeom>
          <a:noFill/>
          <a:ln/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NAVIER-STOKES (MOMENTUM, MIXTURE)</a:t>
            </a:r>
            <a:endParaRPr lang="en-US" sz="1000" dirty="0"/>
          </a:p>
          <a:p>
            <a:pPr algn="ctr"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ρ[∂u/∂t + (u·∇)u] = −∇p + ∇·[μ(∇u + ∇u^T)] + ρg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21792" y="4370832"/>
            <a:ext cx="338328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548640" y="4297680"/>
            <a:ext cx="3383280" cy="1005840"/>
          </a:xfrm>
          <a:prstGeom prst="rect">
            <a:avLst/>
          </a:prstGeom>
          <a:solidFill>
            <a:srgbClr val="FFD600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548640" y="4297680"/>
            <a:ext cx="3383280" cy="1005840"/>
          </a:xfrm>
          <a:prstGeom prst="rect">
            <a:avLst/>
          </a:prstGeom>
          <a:noFill/>
          <a:ln/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CONTINUITY (MASS)</a:t>
            </a:r>
            <a:endParaRPr lang="en-US" sz="10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∇ · u = 0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279392" y="4370832"/>
            <a:ext cx="704088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206240" y="4297680"/>
            <a:ext cx="7040880" cy="1005840"/>
          </a:xfrm>
          <a:prstGeom prst="rect">
            <a:avLst/>
          </a:prstGeom>
          <a:solidFill>
            <a:srgbClr val="0DA678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206240" y="4297680"/>
            <a:ext cx="7040880" cy="1005840"/>
          </a:xfrm>
          <a:prstGeom prst="rect">
            <a:avLst/>
          </a:prstGeom>
          <a:noFill/>
          <a:ln/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MIXTURE PROPERTIES (LINEAR BLEND OF Α)</a:t>
            </a:r>
            <a:endParaRPr lang="en-US" sz="10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ρ = α·ρ_water + (1−α)·ρ_air</a:t>
            </a:r>
            <a:endParaRPr lang="en-US" sz="10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μ = α·μ_water + (1−α)·μ_air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532120"/>
            <a:ext cx="10789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VOF method: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 fixed grid spans both fluids. α = water volume / cell volume: α = 1 water, α = 0 air, 0 &lt; α &lt; 1 interface cell. ρ and μ are recomputed from α every step.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/>
          <p:nvPr>
            <p:ph idx="114" type="title" hasCustomPrompt="1"/>
          </p:nvPr>
        </p:nvSpPr>
        <p:spPr>
          <a:xfrm>
            <a:off x="548640" y="129844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2. INTERFACE TRANSPORT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858000" y="6400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 / 9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21792" y="2221992"/>
            <a:ext cx="10698480" cy="10972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48840"/>
            <a:ext cx="10698480" cy="1097280"/>
          </a:xfrm>
          <a:prstGeom prst="rect">
            <a:avLst/>
          </a:prstGeom>
          <a:solidFill>
            <a:srgbClr val="0DA678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148840"/>
            <a:ext cx="10698480" cy="1097280"/>
          </a:xfrm>
          <a:prstGeom prst="rect">
            <a:avLst/>
          </a:prstGeom>
          <a:noFill/>
          <a:ln/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 TRANSPORT: NO DIFFUSION, NO SOURCE</a:t>
            </a:r>
            <a:endParaRPr lang="en-US" sz="1000" dirty="0"/>
          </a:p>
          <a:p>
            <a:pPr algn="ctr"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∂α/∂t + u·∇α = 0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equivalent to ∂α/∂t + ∇·(αu) = 0 because ∇·u = 0 (conservative form)</a:t>
            </a:r>
            <a:endParaRPr lang="en-US" sz="1000" dirty="0"/>
          </a:p>
        </p:txBody>
      </p:sp>
      <p:graphicFrame>
        <p:nvGraphicFramePr>
          <p:cNvPr id="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3520440"/>
          <a:ext cx="106984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4572000"/>
                <a:gridCol w="38404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SCHEME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WHAT IT DOES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TRADE-OFF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00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Plain upwind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α treated like any other scalar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Easy, but interface smears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4B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Donor-acceptor (USED)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Blends upwind/downwind by interface orientation and donor fullness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Sharp without geometry; needs CFL &lt; 1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PLIC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Straight-line interface per cell, exact geometric fluxes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Sharpest; many edge cases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Van Leer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Flux limiter for momentum, not for α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High order when smooth, bounded at jumps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/>
          <p:nvPr>
            <p:ph idx="114" type="title" hasCustomPrompt="1"/>
          </p:nvPr>
        </p:nvSpPr>
        <p:spPr>
          <a:xfrm>
            <a:off x="548640" y="129844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3. TIME STEP: CHORIN PROJECTION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858000" y="6400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 / 9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21792" y="2267712"/>
            <a:ext cx="3429000" cy="1874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94560"/>
            <a:ext cx="3429000" cy="1874520"/>
          </a:xfrm>
          <a:prstGeom prst="rect">
            <a:avLst/>
          </a:prstGeom>
          <a:solidFill>
            <a:srgbClr val="2E4B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194560"/>
            <a:ext cx="3429000" cy="1874520"/>
          </a:xfrm>
          <a:prstGeom prst="rect">
            <a:avLst/>
          </a:prstGeom>
          <a:noFill/>
          <a:ln/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PREDICTOR (NO PRESSURE)</a:t>
            </a:r>
            <a:endParaRPr lang="en-US" sz="1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u* = u + Δt·[ −(u·∇)u</a:t>
            </a:r>
            <a:endParaRPr lang="en-US" sz="1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+ (1/ρ)∇·(μ∇u) + g ]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56532" y="2267712"/>
            <a:ext cx="3429000" cy="1874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83380" y="2194560"/>
            <a:ext cx="3429000" cy="1874520"/>
          </a:xfrm>
          <a:prstGeom prst="rect">
            <a:avLst/>
          </a:prstGeom>
          <a:solidFill>
            <a:srgbClr val="0DA678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83380" y="2194560"/>
            <a:ext cx="3429000" cy="1874520"/>
          </a:xfrm>
          <a:prstGeom prst="rect">
            <a:avLst/>
          </a:prstGeom>
          <a:noFill/>
          <a:ln/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PRESSURE POISSON</a:t>
            </a:r>
            <a:endParaRPr lang="en-US" sz="10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∇·((1/ρ)∇p)</a:t>
            </a:r>
            <a:endParaRPr lang="en-US" sz="10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(1/Δt) ∇·u*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891272" y="2267712"/>
            <a:ext cx="3429000" cy="18745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2194560"/>
            <a:ext cx="3429000" cy="1874520"/>
          </a:xfrm>
          <a:prstGeom prst="rect">
            <a:avLst/>
          </a:prstGeom>
          <a:solidFill>
            <a:srgbClr val="FFD600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18120" y="2194560"/>
            <a:ext cx="3429000" cy="1874520"/>
          </a:xfrm>
          <a:prstGeom prst="rect">
            <a:avLst/>
          </a:prstGeom>
          <a:noFill/>
          <a:ln/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PROJECTION</a:t>
            </a:r>
            <a:endParaRPr lang="en-US" sz="1000" dirty="0"/>
          </a:p>
          <a:p>
            <a:pPr algn="ctr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u(n+1) = u* − (Δt/ρ)∇p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 that ∇·u(n+1) = 0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389120"/>
            <a:ext cx="107899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Advect α with the corrected velocity (donor-acceptor), then clip α to [0, 1].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5.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Recompute ρ and μ from α; repeat with a CFL-limited Δt.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split?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u* is where the water wants to go from gravity, momentum and viscosity alone. The Poisson solve finds the pressure that removes the divergence of u*; the projection applies it.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/>
          <p:nvPr>
            <p:ph idx="114" type="title" hasCustomPrompt="1"/>
          </p:nvPr>
        </p:nvSpPr>
        <p:spPr>
          <a:xfrm>
            <a:off x="548640" y="129844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4. DENSITY RATIO AND PRESSURE SOLVE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858000" y="6400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/ 9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1069848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743200"/>
                <a:gridCol w="3474720"/>
                <a:gridCol w="24688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FLUID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DENSITY (ρ)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KINEMATIC VISCOSITY (ν)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RATIO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Water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998.0 kg/m³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1.00e-6 m²/s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400" b="1" dirty="0">
                          <a:solidFill>
                            <a:srgbClr val="2E4B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~832× (ρ)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Air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1.20 kg/m³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1.48e-5 m²/s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cPr/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21792" y="3867912"/>
            <a:ext cx="5212080" cy="1600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3794760"/>
            <a:ext cx="5212080" cy="1600200"/>
          </a:xfrm>
          <a:prstGeom prst="rect">
            <a:avLst/>
          </a:prstGeom>
          <a:solidFill>
            <a:srgbClr val="FFD600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3794760"/>
            <a:ext cx="5212080" cy="1600200"/>
          </a:xfrm>
          <a:prstGeom prst="rect">
            <a:avLst/>
          </a:prstGeom>
          <a:noFill/>
          <a:ln/>
        </p:spPr>
        <p:txBody>
          <a:bodyPr wrap="square" lIns="1778" tIns="1778" rIns="1778" bIns="1778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WHY IT IS ILL-CONDITIONED</a:t>
            </a:r>
            <a:endParaRPr lang="en-US" sz="10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coefficient 1/ρ jumps ~832× across a single interface cell, so the Poisson matrix entries span about three orders of magnitude and plain CG converges slowly.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6108192" y="3867912"/>
            <a:ext cx="5212080" cy="16002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6035040" y="3794760"/>
            <a:ext cx="5212080" cy="1600200"/>
          </a:xfrm>
          <a:prstGeom prst="rect">
            <a:avLst/>
          </a:prstGeom>
          <a:solidFill>
            <a:srgbClr val="0DA678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6035040" y="3794760"/>
            <a:ext cx="5212080" cy="1600200"/>
          </a:xfrm>
          <a:prstGeom prst="rect">
            <a:avLst/>
          </a:prstGeom>
          <a:noFill/>
          <a:ln/>
        </p:spPr>
        <p:txBody>
          <a:bodyPr wrap="square" lIns="1778" tIns="1778" rIns="1778" bIns="1778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FIX: IC(0)-PRECONDITIONED CG</a:t>
            </a:r>
            <a:endParaRPr lang="en-US" sz="1000" dirty="0"/>
          </a:p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2450 → 112 iterations</a:t>
            </a:r>
            <a:endParaRPr lang="en-US" sz="10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18.5 → 2.1 ms per step; scaling O(N^1.5) → O(N^1.2)</a:t>
            </a:r>
            <a:endParaRPr lang="en-US" sz="10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562356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Matrix assembly: </a:t>
            </a:r>
            <a:pPr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5-point Laplacian must treat fluid and empty cells carefully to stay symmetric positive definite.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/>
          <p:nvPr>
            <p:ph idx="114" type="title" hasCustomPrompt="1"/>
          </p:nvPr>
        </p:nvSpPr>
        <p:spPr>
          <a:xfrm>
            <a:off x="548640" y="129844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5. DAM-BREAK THEORY: RITTER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858000" y="6400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 / 9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5212080" cy="269748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67712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WATER AT REST (h = H)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731520" y="2606040"/>
            <a:ext cx="4846320" cy="1737360"/>
          </a:xfrm>
          <a:custGeom>
            <a:avLst/>
            <a:gdLst/>
            <a:ahLst/>
            <a:cxnLst/>
            <a:rect l="l" t="t" r="r" b="b"/>
            <a:pathLst>
              <a:path w="4846320" h="1737360">
                <a:moveTo>
                  <a:pt x="0" y="1737360"/>
                </a:moveTo>
                <a:lnTo>
                  <a:pt x="0" y="0"/>
                </a:lnTo>
                <a:lnTo>
                  <a:pt x="1211580" y="0"/>
                </a:lnTo>
                <a:lnTo>
                  <a:pt x="1211580" y="0"/>
                </a:lnTo>
                <a:lnTo>
                  <a:pt x="1363027" y="141764"/>
                </a:lnTo>
                <a:lnTo>
                  <a:pt x="1514475" y="277495"/>
                </a:lnTo>
                <a:lnTo>
                  <a:pt x="1665923" y="407194"/>
                </a:lnTo>
                <a:lnTo>
                  <a:pt x="1817370" y="530860"/>
                </a:lnTo>
                <a:lnTo>
                  <a:pt x="1968817" y="648494"/>
                </a:lnTo>
                <a:lnTo>
                  <a:pt x="2120265" y="760095"/>
                </a:lnTo>
                <a:lnTo>
                  <a:pt x="2271713" y="865664"/>
                </a:lnTo>
                <a:lnTo>
                  <a:pt x="2423160" y="965200"/>
                </a:lnTo>
                <a:lnTo>
                  <a:pt x="2574608" y="1058704"/>
                </a:lnTo>
                <a:lnTo>
                  <a:pt x="2726055" y="1146175"/>
                </a:lnTo>
                <a:lnTo>
                  <a:pt x="2877503" y="1227614"/>
                </a:lnTo>
                <a:lnTo>
                  <a:pt x="3028950" y="1303020"/>
                </a:lnTo>
                <a:lnTo>
                  <a:pt x="3180398" y="1372394"/>
                </a:lnTo>
                <a:lnTo>
                  <a:pt x="3331845" y="1435735"/>
                </a:lnTo>
                <a:lnTo>
                  <a:pt x="3483292" y="1493044"/>
                </a:lnTo>
                <a:lnTo>
                  <a:pt x="3634740" y="1544320"/>
                </a:lnTo>
                <a:lnTo>
                  <a:pt x="3786188" y="1589564"/>
                </a:lnTo>
                <a:lnTo>
                  <a:pt x="3937635" y="1628775"/>
                </a:lnTo>
                <a:lnTo>
                  <a:pt x="4089083" y="1661954"/>
                </a:lnTo>
                <a:lnTo>
                  <a:pt x="4240530" y="1689100"/>
                </a:lnTo>
                <a:lnTo>
                  <a:pt x="4391978" y="1710214"/>
                </a:lnTo>
                <a:lnTo>
                  <a:pt x="4543425" y="1725295"/>
                </a:lnTo>
                <a:lnTo>
                  <a:pt x="4694872" y="1734344"/>
                </a:lnTo>
                <a:lnTo>
                  <a:pt x="4846320" y="1737360"/>
                </a:lnTo>
                <a:close/>
              </a:path>
            </a:pathLst>
          </a:custGeom>
          <a:solidFill>
            <a:srgbClr val="2E4B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154680" y="2514600"/>
            <a:ext cx="0" cy="2011680"/>
          </a:xfrm>
          <a:prstGeom prst="line">
            <a:avLst/>
          </a:prstGeom>
          <a:noFill/>
          <a:ln w="25400">
            <a:solidFill>
              <a:srgbClr val="000000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1577340" y="45537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−c0·t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2697480" y="4553712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gate x=0</a:t>
            </a:r>
            <a:endParaRPr lang="en-US" sz="1000" dirty="0"/>
          </a:p>
        </p:txBody>
      </p:sp>
      <p:sp>
        <p:nvSpPr>
          <p:cNvPr id="10" name="Text 8"/>
          <p:cNvSpPr txBox="1"/>
          <p:nvPr/>
        </p:nvSpPr>
        <p:spPr>
          <a:xfrm>
            <a:off x="4846320" y="4553712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2c0·t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08192" y="2267712"/>
            <a:ext cx="5212080" cy="10972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035040" y="2194560"/>
            <a:ext cx="5212080" cy="1097280"/>
          </a:xfrm>
          <a:prstGeom prst="rect">
            <a:avLst/>
          </a:prstGeom>
          <a:solidFill>
            <a:srgbClr val="2E4B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35040" y="2194560"/>
            <a:ext cx="5212080" cy="1097280"/>
          </a:xfrm>
          <a:prstGeom prst="rect">
            <a:avLst/>
          </a:prstGeom>
          <a:noFill/>
          <a:ln/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SHALLOW WATER (SAINT-VENANT)</a:t>
            </a:r>
            <a:endParaRPr lang="en-US" sz="10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h_t + (h·u)_x = 0</a:t>
            </a:r>
            <a:endParaRPr lang="en-US" sz="10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u_t + u·u_x + g·h_x = 0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08192" y="3593592"/>
            <a:ext cx="5212080" cy="13716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0" y="3520440"/>
            <a:ext cx="5212080" cy="1371600"/>
          </a:xfrm>
          <a:prstGeom prst="rect">
            <a:avLst/>
          </a:prstGeom>
          <a:solidFill>
            <a:srgbClr val="FFD600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035040" y="3520440"/>
            <a:ext cx="5212080" cy="1371600"/>
          </a:xfrm>
          <a:prstGeom prst="rect">
            <a:avLst/>
          </a:prstGeom>
          <a:noFill/>
          <a:ln/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RITTER SOLUTION, C0 = √(GH)</a:t>
            </a:r>
            <a:endParaRPr lang="en-US" sz="10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 = (2/3)(c0 + x/t)</a:t>
            </a:r>
            <a:endParaRPr lang="en-US" sz="1000" dirty="0"/>
          </a:p>
          <a:p>
            <a:pPr algn="ctr" indent="0" marL="0">
              <a:buNone/>
            </a:pPr>
            <a:r>
              <a:rPr lang="en-US" sz="16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 = (2·c0 − x/t)² / (9g)</a:t>
            </a:r>
            <a:endParaRPr lang="en-US" sz="1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−c0·t ≤ x ≤ 2·c0·t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" y="5239512"/>
            <a:ext cx="10698480" cy="10058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48640" y="5166360"/>
            <a:ext cx="10698480" cy="1005840"/>
          </a:xfrm>
          <a:prstGeom prst="rect">
            <a:avLst/>
          </a:prstGeom>
          <a:solidFill>
            <a:srgbClr val="0DA678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48640" y="5166360"/>
            <a:ext cx="10698480" cy="1005840"/>
          </a:xfrm>
          <a:prstGeom prst="rect">
            <a:avLst/>
          </a:prstGeom>
          <a:noFill/>
          <a:ln/>
        </p:spPr>
        <p:txBody>
          <a:bodyPr wrap="square" lIns="1778" tIns="1778" rIns="1778" bIns="1778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WHAT IT PREDICTS (VALID FOR T &lt; L0/C0, BEFORE REFLECTION OFF THE BACK WALL)</a:t>
            </a:r>
            <a:endParaRPr lang="en-US" sz="10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 speed 2√(gH) with zero depth. At the gate: h = 4H/9, u = c (Fr = 1), constant discharge q = (8/27)·√g·H^1.5.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/>
          <p:nvPr>
            <p:ph idx="114" type="title" hasCustomPrompt="1"/>
          </p:nvPr>
        </p:nvSpPr>
        <p:spPr>
          <a:xfrm>
            <a:off x="548640" y="129844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6. REALITY CHECK: FRICTION AND SCALING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858000" y="6400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6 / 9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2194560"/>
            <a:ext cx="6400800" cy="361188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731520" y="2267712"/>
            <a:ext cx="6035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 FRONT SPEED v/√(gH), t* &gt; 1</a:t>
            </a:r>
            <a:endParaRPr lang="en-US" sz="11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685800" y="2560320"/>
          <a:ext cx="6126480" cy="31546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Text 4"/>
          <p:cNvSpPr txBox="1"/>
          <p:nvPr/>
        </p:nvSpPr>
        <p:spPr>
          <a:xfrm>
            <a:off x="548640" y="5897880"/>
            <a:ext cx="10698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Source: Lobovský et al., Table 1. M&amp;M = Martin &amp; Moyce; numbers after names are H in mm.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7342632" y="2267712"/>
            <a:ext cx="3977640" cy="10972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7269480" y="2194560"/>
            <a:ext cx="3977640" cy="1097280"/>
          </a:xfrm>
          <a:prstGeom prst="rect">
            <a:avLst/>
          </a:prstGeom>
          <a:solidFill>
            <a:srgbClr val="FFD600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269480" y="2194560"/>
            <a:ext cx="3977640" cy="1097280"/>
          </a:xfrm>
          <a:prstGeom prst="rect">
            <a:avLst/>
          </a:prstGeom>
          <a:noFill/>
          <a:ln/>
        </p:spPr>
        <p:txBody>
          <a:bodyPr wrap="square" lIns="1778" tIns="1778" rIns="1778" bIns="1778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FRICTION (DRESSLER, WHITHAM)</a:t>
            </a:r>
            <a:endParaRPr lang="en-US" sz="10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Blunt front, vertical tangent, finite depth. Slower than 2√(gH).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342632" y="3593592"/>
            <a:ext cx="3977640" cy="10972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7269480" y="3520440"/>
            <a:ext cx="3977640" cy="1097280"/>
          </a:xfrm>
          <a:prstGeom prst="rect">
            <a:avLst/>
          </a:prstGeom>
          <a:solidFill>
            <a:srgbClr val="2E4B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7269480" y="3520440"/>
            <a:ext cx="3977640" cy="1097280"/>
          </a:xfrm>
          <a:prstGeom prst="rect">
            <a:avLst/>
          </a:prstGeom>
          <a:noFill/>
          <a:ln/>
        </p:spPr>
        <p:txBody>
          <a:bodyPr wrap="square" lIns="1778" tIns="1778" rIns="1778" bIns="1778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LAB SCALE, H = 300 MM</a:t>
            </a:r>
            <a:endParaRPr lang="en-US" sz="10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 = 3.8e6, We = 1.64e5, Fr = 1</a:t>
            </a:r>
            <a:endParaRPr lang="en-US" sz="10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Large We: surface tension negligible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7342632" y="4736592"/>
            <a:ext cx="3977640" cy="114300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7269480" y="4663440"/>
            <a:ext cx="3977640" cy="1143000"/>
          </a:xfrm>
          <a:prstGeom prst="rect">
            <a:avLst/>
          </a:prstGeom>
          <a:solidFill>
            <a:srgbClr val="0DA678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7269480" y="4663440"/>
            <a:ext cx="3977640" cy="1143000"/>
          </a:xfrm>
          <a:prstGeom prst="rect">
            <a:avLst/>
          </a:prstGeom>
          <a:noFill/>
          <a:ln/>
        </p:spPr>
        <p:txBody>
          <a:bodyPr wrap="square" lIns="1778" tIns="1778" rIns="1778" bIns="1778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EARLY TIMES, T* &lt; 1</a:t>
            </a:r>
            <a:endParaRPr lang="en-US" sz="1000" dirty="0"/>
          </a:p>
          <a:p>
            <a:pPr algn="l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Not hydrostatic; gate removal (3.5–4.5 m/s) matters.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/>
          <p:nvPr>
            <p:ph idx="114" type="title" hasCustomPrompt="1"/>
          </p:nvPr>
        </p:nvSpPr>
        <p:spPr>
          <a:xfrm>
            <a:off x="548640" y="129844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7. VALIDATION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858000" y="6400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7 / 9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94560"/>
          <a:ext cx="585216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1828800"/>
                <a:gridCol w="201168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SOURCE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LENGTH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0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TIME</a:t>
                      </a:r>
                      <a:endParaRPr lang="en-US" sz="11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D6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Martin &amp; Moyce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initial width a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 = t√(g/a)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Lobovský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depth H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t* = t√(g/H)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2E4BFF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This solver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L0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000000"/>
                          </a:solidFill>
                          <a:latin typeface="Courier New" pitchFamily="34" charset="0"/>
                          <a:ea typeface="Courier New" pitchFamily="34" charset="-122"/>
                          <a:cs typeface="Courier New" pitchFamily="34" charset="-120"/>
                        </a:rPr>
                        <a:t>T* = t√(g/L0)</a:t>
                      </a:r>
                      <a:endParaRPr lang="en-US" sz="1400" dirty="0">
                        <a:latin typeface="Courier New" charset="0"/>
                        <a:ea typeface="Courier New" charset="0"/>
                        <a:cs typeface="Courier New" charset="0"/>
                      </a:endParaRPr>
                    </a:p>
                  </a:txBody>
                  <a:tcPr marL="91440" marR="91440" marT="45720" marB="45720" anchor="ctr">
                    <a:lnL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21792" y="4187952"/>
            <a:ext cx="5852160" cy="14173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548640" y="4114800"/>
            <a:ext cx="5852160" cy="1417320"/>
          </a:xfrm>
          <a:prstGeom prst="rect">
            <a:avLst/>
          </a:prstGeom>
          <a:solidFill>
            <a:srgbClr val="2E4B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548640" y="4114800"/>
            <a:ext cx="5852160" cy="1417320"/>
          </a:xfrm>
          <a:prstGeom prst="rect">
            <a:avLst/>
          </a:prstGeom>
          <a:noFill/>
          <a:ln/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EARLY-TIME CHECK (RITTER)</a:t>
            </a:r>
            <a:endParaRPr lang="en-US" sz="10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X* = 1 + 2·T*</a:t>
            </a:r>
            <a:endParaRPr lang="en-US" sz="10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 starts at x/L0 = 1, then moves at 2√(gH); square column</a:t>
            </a:r>
            <a:endParaRPr lang="en-US" sz="100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5715000"/>
            <a:ext cx="5852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Match the axis convention of the data you overlay before comparing curves.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748272" y="2267712"/>
            <a:ext cx="4572000" cy="393192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675120" y="2194560"/>
            <a:ext cx="4572000" cy="3931920"/>
          </a:xfrm>
          <a:prstGeom prst="rect">
            <a:avLst/>
          </a:prstGeom>
          <a:solidFill>
            <a:srgbClr val="FFD600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6675120" y="2194560"/>
            <a:ext cx="4572000" cy="3931920"/>
          </a:xfrm>
          <a:prstGeom prst="rect">
            <a:avLst/>
          </a:prstGeom>
          <a:noFill/>
          <a:ln/>
        </p:spPr>
        <p:txBody>
          <a:bodyPr wrap="square" lIns="2540" tIns="2540" rIns="2540" bIns="254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0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ACCEPTANCE CHECKS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∫α dV stays within a stated tolerance (live readout)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 X*(T*) vs Martin &amp; Moyce data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 stays below Ritter: 1 + 2T*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Late front speed about 1.1–1.75 √(gH)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∇·u ≈ 0 after every projection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Error shrinks under grid and Δt refinement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/>
          <p:nvPr>
            <p:ph idx="114" type="title" hasCustomPrompt="1"/>
          </p:nvPr>
        </p:nvSpPr>
        <p:spPr>
          <a:xfrm>
            <a:off x="548640" y="129844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8. IMPACT PRESSURE AT A WALL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858000" y="6400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8 / 9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21792" y="2267712"/>
            <a:ext cx="3429000" cy="1920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94560"/>
            <a:ext cx="3429000" cy="1920240"/>
          </a:xfrm>
          <a:prstGeom prst="rect">
            <a:avLst/>
          </a:prstGeom>
          <a:solidFill>
            <a:srgbClr val="2E4B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194560"/>
            <a:ext cx="3429000" cy="1920240"/>
          </a:xfrm>
          <a:prstGeom prst="rect">
            <a:avLst/>
          </a:prstGeom>
          <a:noFill/>
          <a:ln/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MEDIAN PEAK, 3 MM ABOVE BED</a:t>
            </a:r>
            <a:endParaRPr lang="en-US" sz="1000" dirty="0"/>
          </a:p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3 × ρgH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97.5th percentile ≈ 4.5×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4256532" y="2267712"/>
            <a:ext cx="3429000" cy="1920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83380" y="2194560"/>
            <a:ext cx="3429000" cy="1920240"/>
          </a:xfrm>
          <a:prstGeom prst="rect">
            <a:avLst/>
          </a:prstGeom>
          <a:solidFill>
            <a:srgbClr val="FFD600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183380" y="2194560"/>
            <a:ext cx="3429000" cy="1920240"/>
          </a:xfrm>
          <a:prstGeom prst="rect">
            <a:avLst/>
          </a:prstGeom>
          <a:noFill/>
          <a:ln/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 / ΡV², MEASURED</a:t>
            </a:r>
            <a:endParaRPr lang="en-US" sz="10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1.25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vs 0.5 for a steady impinging jet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7891272" y="2267712"/>
            <a:ext cx="3429000" cy="192024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7818120" y="2194560"/>
            <a:ext cx="3429000" cy="1920240"/>
          </a:xfrm>
          <a:prstGeom prst="rect">
            <a:avLst/>
          </a:prstGeom>
          <a:solidFill>
            <a:srgbClr val="0DA678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818120" y="2194560"/>
            <a:ext cx="3429000" cy="1920240"/>
          </a:xfrm>
          <a:prstGeom prst="rect">
            <a:avLst/>
          </a:prstGeom>
          <a:noFill/>
          <a:ln/>
        </p:spPr>
        <p:txBody>
          <a:bodyPr wrap="square" lIns="1778" tIns="1778" rIns="1778" bIns="1778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REPEATED RUNS PER FILL HEIGHT</a:t>
            </a:r>
            <a:endParaRPr lang="en-US" sz="1000" dirty="0"/>
          </a:p>
          <a:p>
            <a:pPr algn="ctr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100</a:t>
            </a:r>
            <a:endParaRPr lang="en-US" sz="10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peak pressure is a random variable</a:t>
            </a:r>
            <a:endParaRPr lang="en-US" sz="10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4434840"/>
            <a:ext cx="10789920" cy="1783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Time scales: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rise 1.5–4.5 ms, decay about 10× longer. Impulse ∫P dt ≈ ½ × peak × impact time (within about 25%).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Scaling: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lowest-sensor peak ∝ H (Froude: P ~ ρgH); higher sensors are not linear in H.</a:t>
            </a:r>
            <a:endParaRPr lang="en-US" sz="14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400" b="1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your solver: </a:t>
            </a:r>
            <a:pPr indent="0" marL="0">
              <a:spcAft>
                <a:spcPts val="800"/>
              </a:spcAft>
              <a:buNone/>
            </a:pPr>
            <a:r>
              <a:rPr lang="en-US" sz="14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incompressible VOF gives a sharp, grid-dependent spike. Compare arrival time and impulse with the median and 95% band, not one peak.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4"/>
          <p:cNvSpPr/>
          <p:nvPr>
            <p:ph idx="114" type="title" hasCustomPrompt="1"/>
          </p:nvPr>
        </p:nvSpPr>
        <p:spPr>
          <a:xfrm>
            <a:off x="548640" y="1298448"/>
            <a:ext cx="10789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00000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9. SCOPE FOR IMPROVEMENT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6858000" y="640080"/>
            <a:ext cx="868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9 / 9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21792" y="2267712"/>
            <a:ext cx="5257800" cy="1783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194560"/>
            <a:ext cx="5257800" cy="1783080"/>
          </a:xfrm>
          <a:prstGeom prst="rect">
            <a:avLst/>
          </a:prstGeom>
          <a:solidFill>
            <a:srgbClr val="FFD600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194560"/>
            <a:ext cx="5257800" cy="1783080"/>
          </a:xfrm>
          <a:prstGeom prst="rect">
            <a:avLst/>
          </a:prstGeom>
          <a:noFill/>
          <a:ln/>
        </p:spPr>
        <p:txBody>
          <a:bodyPr wrap="square" lIns="1778" tIns="1778" rIns="1778" bIns="1778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HIGHER-ORDER INTERFACE TRACKING</a:t>
            </a:r>
            <a:endParaRPr lang="en-US" sz="10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Replace donor-acceptor with PLIC for a continuous, sharp geometric interface reconstruction.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6153912" y="2267712"/>
            <a:ext cx="5166360" cy="1783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080760" y="2194560"/>
            <a:ext cx="5166360" cy="1783080"/>
          </a:xfrm>
          <a:prstGeom prst="rect">
            <a:avLst/>
          </a:prstGeom>
          <a:solidFill>
            <a:srgbClr val="0DA678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080760" y="2194560"/>
            <a:ext cx="5166360" cy="1783080"/>
          </a:xfrm>
          <a:prstGeom prst="rect">
            <a:avLst/>
          </a:prstGeom>
          <a:noFill/>
          <a:ln/>
        </p:spPr>
        <p:txBody>
          <a:bodyPr wrap="square" lIns="1778" tIns="1778" rIns="1778" bIns="1778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HARDWARE ACCELERATION</a:t>
            </a:r>
            <a:endParaRPr lang="en-US" sz="10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Port grid sweeps and the Poisson solver to WebGPU compute shaders; scale to millions of cells and 3D.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" y="4370832"/>
            <a:ext cx="5257800" cy="1783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4297680"/>
            <a:ext cx="5257800" cy="1783080"/>
          </a:xfrm>
          <a:prstGeom prst="rect">
            <a:avLst/>
          </a:prstGeom>
          <a:solidFill>
            <a:srgbClr val="2E4B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48640" y="4297680"/>
            <a:ext cx="5257800" cy="1783080"/>
          </a:xfrm>
          <a:prstGeom prst="rect">
            <a:avLst/>
          </a:prstGeom>
          <a:noFill/>
          <a:ln/>
        </p:spPr>
        <p:txBody>
          <a:bodyPr wrap="square" lIns="1778" tIns="1778" rIns="1778" bIns="1778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PHYSICS GAPS</a:t>
            </a:r>
            <a:endParaRPr lang="en-US" sz="10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Air compressibility and entrapment at impact, wet-bed jets, and turbulence at Re ~ 1e6 on an under-resolved grid.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6153912" y="4370832"/>
            <a:ext cx="5166360" cy="1783080"/>
          </a:xfrm>
          <a:prstGeom prst="rect">
            <a:avLst/>
          </a:prstGeom>
          <a:solidFill>
            <a:srgbClr val="000000"/>
          </a:solidFill>
          <a:ln w="12700">
            <a:solidFill>
              <a:srgbClr val="000000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080760" y="4297680"/>
            <a:ext cx="5166360" cy="1783080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080760" y="4297680"/>
            <a:ext cx="5166360" cy="1783080"/>
          </a:xfrm>
          <a:prstGeom prst="rect">
            <a:avLst/>
          </a:prstGeom>
          <a:noFill/>
          <a:ln/>
        </p:spPr>
        <p:txBody>
          <a:bodyPr wrap="square" lIns="1778" tIns="1778" rIns="1778" bIns="1778" rtlCol="0" anchor="ctr"/>
          <a:lstStyle/>
          <a:p>
            <a:pPr algn="l" indent="0" marL="0">
              <a:buNone/>
            </a:pPr>
            <a:r>
              <a:rPr lang="en-US" sz="1000" b="1" spc="100" kern="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3D EFFECTS</a:t>
            </a:r>
            <a:endParaRPr lang="en-US" sz="1000" dirty="0"/>
          </a:p>
          <a:p>
            <a:pPr algn="l" indent="0" marL="0">
              <a:buNone/>
            </a:pPr>
            <a:r>
              <a:rPr lang="en-US" sz="1500" dirty="0">
                <a:solidFill>
                  <a:srgbClr val="00000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The lab flow stops being 2D at H = 600 mm, which a 2D solver cannot show.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rutal Deck">
  <a:themeElements>
    <a:clrScheme name="Brutal Deck">
      <a:dk1>
        <a:srgbClr val="000000"/>
      </a:dk1>
      <a:lt1>
        <a:srgbClr val="FFFFFF"/>
      </a:lt1>
      <a:dk2>
        <a:srgbClr val="0B0B0B"/>
      </a:dk2>
      <a:lt2>
        <a:srgbClr val="F4F4F4"/>
      </a:lt2>
      <a:accent1>
        <a:srgbClr val="2E4BFF"/>
      </a:accent1>
      <a:accent2>
        <a:srgbClr val="FFD600"/>
      </a:accent2>
      <a:accent3>
        <a:srgbClr val="0DA678"/>
      </a:accent3>
      <a:accent4>
        <a:srgbClr val="FF3366"/>
      </a:accent4>
      <a:accent5>
        <a:srgbClr val="000000"/>
      </a:accent5>
      <a:accent6>
        <a:srgbClr val="7A7A7A"/>
      </a:accent6>
      <a:hlink>
        <a:srgbClr val="2E4BFF"/>
      </a:hlink>
      <a:folHlink>
        <a:srgbClr val="7A7A7A"/>
      </a:folHlink>
    </a:clrScheme>
    <a:fontScheme name="Brutal Deck">
      <a:majorFont>
        <a:latin typeface="Arial Black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ourier New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Dam-Break VOF Solver: Theory Deck</dc:title>
  <dc:subject>PptxGenJS Presentation</dc:subject>
  <dc:creator>Kartik Chawla</dc:creator>
  <cp:lastModifiedBy>Kartik Chawla</cp:lastModifiedBy>
  <cp:revision>1</cp:revision>
  <dcterms:created xsi:type="dcterms:W3CDTF">2026-10-07T14:04:11Z</dcterms:created>
  <dcterms:modified xsi:type="dcterms:W3CDTF">2026-10-07T14:04:11Z</dcterms:modified>
</cp:coreProperties>
</file>